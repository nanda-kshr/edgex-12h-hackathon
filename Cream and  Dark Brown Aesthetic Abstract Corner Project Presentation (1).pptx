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ynapuff Condensed" panose="020B0604020202020204" charset="0"/>
      <p:regular r:id="rId13"/>
    </p:embeddedFont>
    <p:embeddedFont>
      <p:font typeface="Dynapuff Condensed Bold" panose="020B0604020202020204" charset="0"/>
      <p:regular r:id="rId14"/>
    </p:embeddedFont>
    <p:embeddedFont>
      <p:font typeface="Dynapuff SemiCondense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13428" y="5965108"/>
            <a:ext cx="8414356" cy="274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Presented by: Nandakishore .P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                  Abhinandh. K</a:t>
            </a:r>
          </a:p>
          <a:p>
            <a:pPr algn="ctr">
              <a:lnSpc>
                <a:spcPts val="5482"/>
              </a:lnSpc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            Arjun .P.S</a:t>
            </a:r>
          </a:p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                              Veda Krishnan .V .A </a:t>
            </a: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21061" y="2057400"/>
            <a:ext cx="13401229" cy="350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845"/>
              </a:lnSpc>
              <a:spcBef>
                <a:spcPct val="0"/>
              </a:spcBef>
            </a:pPr>
            <a:r>
              <a:rPr lang="en-US" sz="11538" spc="11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SMART ENERGY METER WITH THEFT DETECTION</a:t>
            </a:r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98679" y="4359270"/>
            <a:ext cx="12122664" cy="262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113" lvl="1" indent="-401056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Electricity is essential for daily life</a:t>
            </a:r>
          </a:p>
          <a:p>
            <a:pPr marL="802113" lvl="1" indent="-401056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Traditional meters lack real-time monitoring</a:t>
            </a:r>
          </a:p>
          <a:p>
            <a:pPr marL="802113" lvl="1" indent="-401056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Electricity theft causes major revenue loss</a:t>
            </a:r>
          </a:p>
          <a:p>
            <a:pPr marL="802113" lvl="1" indent="-401056" algn="just">
              <a:lnSpc>
                <a:spcPts val="5201"/>
              </a:lnSpc>
              <a:buFont typeface="Arial"/>
              <a:buChar char="•"/>
            </a:pPr>
            <a:r>
              <a:rPr lang="en-US" sz="371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Smart meters improve energy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24696" y="2467693"/>
            <a:ext cx="8438608" cy="77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75679">
            <a:off x="2641075" y="3279986"/>
            <a:ext cx="6200633" cy="5916540"/>
          </a:xfrm>
          <a:custGeom>
            <a:avLst/>
            <a:gdLst/>
            <a:ahLst/>
            <a:cxnLst/>
            <a:rect l="l" t="t" r="r" b="b"/>
            <a:pathLst>
              <a:path w="6200633" h="5916540">
                <a:moveTo>
                  <a:pt x="0" y="0"/>
                </a:moveTo>
                <a:lnTo>
                  <a:pt x="6200633" y="0"/>
                </a:lnTo>
                <a:lnTo>
                  <a:pt x="6200633" y="5916540"/>
                </a:lnTo>
                <a:lnTo>
                  <a:pt x="0" y="591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75679">
            <a:off x="9962035" y="3248241"/>
            <a:ext cx="6242464" cy="5956455"/>
          </a:xfrm>
          <a:custGeom>
            <a:avLst/>
            <a:gdLst/>
            <a:ahLst/>
            <a:cxnLst/>
            <a:rect l="l" t="t" r="r" b="b"/>
            <a:pathLst>
              <a:path w="6242464" h="5956455">
                <a:moveTo>
                  <a:pt x="0" y="0"/>
                </a:moveTo>
                <a:lnTo>
                  <a:pt x="6242465" y="0"/>
                </a:lnTo>
                <a:lnTo>
                  <a:pt x="6242465" y="5956455"/>
                </a:lnTo>
                <a:lnTo>
                  <a:pt x="0" y="595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44461" y="1874136"/>
            <a:ext cx="10399079" cy="921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4"/>
              </a:lnSpc>
              <a:spcBef>
                <a:spcPct val="0"/>
              </a:spcBef>
            </a:pPr>
            <a:r>
              <a:rPr lang="en-US" sz="74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76708" y="5455961"/>
            <a:ext cx="4528546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Electricity theft causes revenue loss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Traditional meters lack tamper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92186" y="5455961"/>
            <a:ext cx="4528546" cy="188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No real-time usage monitoring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Manual billing leads to errors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201282" y="1197150"/>
            <a:ext cx="8159634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EXISTING SYSTEM ISSUES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11657446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175679">
            <a:off x="6939999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175679">
            <a:off x="2098727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819717" y="6025156"/>
            <a:ext cx="278225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Inaccurate billing and data errors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No remote data transmission capability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52873" y="6025156"/>
            <a:ext cx="278225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Easy meter tampering and bypass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Delayed theft 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9430" y="5976934"/>
            <a:ext cx="2897543" cy="15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179" lvl="1" indent="-236089" algn="l">
              <a:lnSpc>
                <a:spcPts val="3061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Manual meter reading process</a:t>
            </a:r>
          </a:p>
          <a:p>
            <a:pPr marL="472179" lvl="1" indent="-236089" algn="l">
              <a:lnSpc>
                <a:spcPts val="3061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No real-time monitoring system</a:t>
            </a:r>
          </a:p>
        </p:txBody>
      </p:sp>
      <p:sp>
        <p:nvSpPr>
          <p:cNvPr id="14" name="Freeform 14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44200" y="2130705"/>
            <a:ext cx="8799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PROPOSED SOLUTION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88010" y="3960466"/>
            <a:ext cx="10924955" cy="3615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601" lvl="1" indent="-369800" algn="l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Smart digital energy measurement</a:t>
            </a:r>
          </a:p>
          <a:p>
            <a:pPr marL="739601" lvl="1" indent="-369800" algn="l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Real-time theft detection system</a:t>
            </a:r>
          </a:p>
          <a:p>
            <a:pPr marL="739601" lvl="1" indent="-369800" algn="l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Automatic alert notification</a:t>
            </a:r>
          </a:p>
          <a:p>
            <a:pPr marL="739601" lvl="1" indent="-369800" algn="l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Cloud-based data monitoring</a:t>
            </a:r>
          </a:p>
          <a:p>
            <a:pPr marL="739601" lvl="1" indent="-369800" algn="l">
              <a:lnSpc>
                <a:spcPts val="4795"/>
              </a:lnSpc>
              <a:buFont typeface="Arial"/>
              <a:buChar char="•"/>
            </a:pPr>
            <a:r>
              <a:rPr lang="en-US" sz="3425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Secure and accurate billing</a:t>
            </a:r>
          </a:p>
          <a:p>
            <a:pPr algn="l">
              <a:lnSpc>
                <a:spcPts val="4795"/>
              </a:lnSpc>
            </a:pPr>
            <a:endParaRPr lang="en-US" sz="3425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93189" y="3901702"/>
            <a:ext cx="5681965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                         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Next.js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Python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XGBoost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MongoDB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Flutter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ESP8266</a:t>
            </a:r>
          </a:p>
          <a:p>
            <a:pPr marL="539753" lvl="1" indent="-269876" algn="just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ACS710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44200" y="523875"/>
            <a:ext cx="8799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 ARCHETECTURE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57400" y="2057400"/>
            <a:ext cx="9689487" cy="6060652"/>
          </a:xfrm>
          <a:custGeom>
            <a:avLst/>
            <a:gdLst/>
            <a:ahLst/>
            <a:cxnLst/>
            <a:rect l="l" t="t" r="r" b="b"/>
            <a:pathLst>
              <a:path w="9689487" h="6060652">
                <a:moveTo>
                  <a:pt x="0" y="0"/>
                </a:moveTo>
                <a:lnTo>
                  <a:pt x="9689487" y="0"/>
                </a:lnTo>
                <a:lnTo>
                  <a:pt x="9689487" y="6060652"/>
                </a:lnTo>
                <a:lnTo>
                  <a:pt x="0" y="606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7" t="-2523" r="-712" b="-252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11263" y="2930527"/>
            <a:ext cx="3227751" cy="5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  <a:spcBef>
                <a:spcPct val="0"/>
              </a:spcBef>
            </a:pPr>
            <a:r>
              <a:rPr lang="en-US" sz="3386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Tech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2010" y="1524000"/>
            <a:ext cx="3748209" cy="8306533"/>
          </a:xfrm>
          <a:custGeom>
            <a:avLst/>
            <a:gdLst/>
            <a:ahLst/>
            <a:cxnLst/>
            <a:rect l="l" t="t" r="r" b="b"/>
            <a:pathLst>
              <a:path w="3748209" h="8306533">
                <a:moveTo>
                  <a:pt x="0" y="0"/>
                </a:moveTo>
                <a:lnTo>
                  <a:pt x="3748209" y="0"/>
                </a:lnTo>
                <a:lnTo>
                  <a:pt x="3748209" y="8306533"/>
                </a:lnTo>
                <a:lnTo>
                  <a:pt x="0" y="8306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2" t="-10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2511581"/>
            <a:ext cx="7742447" cy="5849849"/>
          </a:xfrm>
          <a:custGeom>
            <a:avLst/>
            <a:gdLst/>
            <a:ahLst/>
            <a:cxnLst/>
            <a:rect l="l" t="t" r="r" b="b"/>
            <a:pathLst>
              <a:path w="7742447" h="5849849">
                <a:moveTo>
                  <a:pt x="0" y="0"/>
                </a:moveTo>
                <a:lnTo>
                  <a:pt x="7742447" y="0"/>
                </a:lnTo>
                <a:lnTo>
                  <a:pt x="7742447" y="5849849"/>
                </a:lnTo>
                <a:lnTo>
                  <a:pt x="0" y="5849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292465" y="523875"/>
            <a:ext cx="170307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13111" y="1028700"/>
            <a:ext cx="13769280" cy="8595774"/>
          </a:xfrm>
          <a:custGeom>
            <a:avLst/>
            <a:gdLst/>
            <a:ahLst/>
            <a:cxnLst/>
            <a:rect l="l" t="t" r="r" b="b"/>
            <a:pathLst>
              <a:path w="13769280" h="8595774">
                <a:moveTo>
                  <a:pt x="0" y="0"/>
                </a:moveTo>
                <a:lnTo>
                  <a:pt x="13769280" y="0"/>
                </a:lnTo>
                <a:lnTo>
                  <a:pt x="13769280" y="8595774"/>
                </a:lnTo>
                <a:lnTo>
                  <a:pt x="0" y="8595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02134" y="789763"/>
            <a:ext cx="5391234" cy="7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8"/>
              </a:lnSpc>
              <a:spcBef>
                <a:spcPct val="0"/>
              </a:spcBef>
            </a:pPr>
            <a:r>
              <a:rPr lang="en-US" sz="431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Business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57888" y="3489246"/>
            <a:ext cx="18412554" cy="291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767" lvl="1" indent="-360883" algn="l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Sell smart meters to electricity companies</a:t>
            </a:r>
          </a:p>
          <a:p>
            <a:pPr marL="721767" lvl="1" indent="-360883" algn="l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Charge monthly fee for monitoring software</a:t>
            </a:r>
          </a:p>
          <a:p>
            <a:pPr marL="721767" lvl="1" indent="-360883" algn="l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Charge yearly maintenance fees</a:t>
            </a:r>
          </a:p>
          <a:p>
            <a:pPr marL="721767" lvl="1" indent="-360883" algn="l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Provide advanced data reports for extra cost</a:t>
            </a:r>
          </a:p>
          <a:p>
            <a:pPr marL="721767" lvl="1" indent="-360883" algn="l">
              <a:lnSpc>
                <a:spcPts val="4680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Partner with government smart city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39238" y="4638675"/>
            <a:ext cx="9525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994624" y="1019175"/>
            <a:ext cx="428922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30739" y="3379320"/>
            <a:ext cx="10626430" cy="336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7250" lvl="1" indent="-403625" algn="just">
              <a:lnSpc>
                <a:spcPts val="4486"/>
              </a:lnSpc>
              <a:buFont typeface="Arial"/>
              <a:buChar char="•"/>
            </a:pPr>
            <a:r>
              <a:rPr lang="en-US" sz="37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INTEGRATION WITH SMART GRID SYSTEMS</a:t>
            </a:r>
          </a:p>
          <a:p>
            <a:pPr marL="807250" lvl="1" indent="-403625" algn="just">
              <a:lnSpc>
                <a:spcPts val="4486"/>
              </a:lnSpc>
              <a:buFont typeface="Arial"/>
              <a:buChar char="•"/>
            </a:pPr>
            <a:r>
              <a:rPr lang="en-US" sz="37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AI-based advanced theft prediction</a:t>
            </a:r>
          </a:p>
          <a:p>
            <a:pPr marL="807250" lvl="1" indent="-403625" algn="just">
              <a:lnSpc>
                <a:spcPts val="4486"/>
              </a:lnSpc>
              <a:buFont typeface="Arial"/>
              <a:buChar char="•"/>
            </a:pPr>
            <a:r>
              <a:rPr lang="en-US" sz="37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Large-scale deployment in smart cities</a:t>
            </a:r>
          </a:p>
          <a:p>
            <a:pPr marL="807250" lvl="1" indent="-403625" algn="just">
              <a:lnSpc>
                <a:spcPts val="4486"/>
              </a:lnSpc>
              <a:buFont typeface="Arial"/>
              <a:buChar char="•"/>
            </a:pPr>
            <a:r>
              <a:rPr lang="en-US" sz="37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Subscription-based SaaS platform for utilities</a:t>
            </a:r>
          </a:p>
          <a:p>
            <a:pPr marL="807250" lvl="1" indent="-403625" algn="just">
              <a:lnSpc>
                <a:spcPts val="4486"/>
              </a:lnSpc>
              <a:buFont typeface="Arial"/>
              <a:buChar char="•"/>
            </a:pPr>
            <a:r>
              <a:rPr lang="en-US" sz="37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Expansion to national and international markets</a:t>
            </a:r>
          </a:p>
          <a:p>
            <a:pPr algn="just">
              <a:lnSpc>
                <a:spcPts val="4486"/>
              </a:lnSpc>
              <a:spcBef>
                <a:spcPct val="0"/>
              </a:spcBef>
            </a:pPr>
            <a:endParaRPr lang="en-US" sz="3738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4819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2113" y="3872004"/>
            <a:ext cx="11117866" cy="37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Real-time energy monitoring system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Instant theft detection &amp; alerts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Secure cloud-based data management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Accurate and automated billing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Scalable for smart city integration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8828" y="2437405"/>
            <a:ext cx="7350343" cy="100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Custom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Dynapuff Condensed Bold</vt:lpstr>
      <vt:lpstr>Dynapuff SemiCondensed</vt:lpstr>
      <vt:lpstr>Dynapuff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 Dark Brown Aesthetic Abstract Corner Project Presentation</dc:title>
  <cp:lastModifiedBy>Varatha V A</cp:lastModifiedBy>
  <cp:revision>1</cp:revision>
  <dcterms:created xsi:type="dcterms:W3CDTF">2006-08-16T00:00:00Z</dcterms:created>
  <dcterms:modified xsi:type="dcterms:W3CDTF">2026-02-23T09:33:13Z</dcterms:modified>
  <dc:identifier>DAHCHQccnpU</dc:identifier>
</cp:coreProperties>
</file>